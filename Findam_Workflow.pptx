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8778240" y="118872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48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FINDAM</a:t>
            </a:r>
            <a:endParaRPr lang="en-US" sz="5800" dirty="0"/>
          </a:p>
        </p:txBody>
      </p:sp>
      <p:sp>
        <p:nvSpPr>
          <p:cNvPr id="4" name="Shape 1"/>
          <p:cNvSpPr/>
          <p:nvPr/>
        </p:nvSpPr>
        <p:spPr>
          <a:xfrm>
            <a:off x="868680" y="3246120"/>
            <a:ext cx="502920" cy="54864"/>
          </a:xfrm>
          <a:prstGeom prst="rect">
            <a:avLst/>
          </a:prstGeom>
          <a:solidFill>
            <a:srgbClr val="C9704F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3429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house seekers, landlords, civil engineers and agents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technology platform.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26280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3584" y="4507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4526280"/>
            <a:ext cx="329184" cy="3291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32504" y="4507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526280"/>
            <a:ext cx="329184" cy="3291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21424" y="4507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· SEO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WORKFLOW &amp; RESOURCE RUNDOWN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FINDAM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the opportunity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75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2889504"/>
            <a:ext cx="82296" cy="82296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834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listings are scattered across WhatsApp groups, word-of-mouth and roadside boards — hard to search, easy to miss.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730752"/>
            <a:ext cx="82296" cy="82296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6758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verification: seekers can't confirm a property is safe, structurally sound, or even real before visiting.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572000"/>
            <a:ext cx="82296" cy="82296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51713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work informally with no shared tools, so leads, viewings and follow-ups get lost.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5413248"/>
            <a:ext cx="82296" cy="82296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535838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Landlords have no simple way to list a property and reach serious tenants.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B3A4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2011680"/>
            <a:ext cx="594360" cy="59436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70" y="2160270"/>
            <a:ext cx="297180" cy="2971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2075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6583680" y="2889504"/>
            <a:ext cx="82296" cy="82296"/>
          </a:xfrm>
          <a:prstGeom prst="ellipse">
            <a:avLst/>
          </a:prstGeom>
          <a:solidFill>
            <a:srgbClr val="E3A17E"/>
          </a:solidFill>
          <a:ln/>
        </p:spPr>
      </p:sp>
      <p:sp>
        <p:nvSpPr>
          <p:cNvPr id="21" name="Text 17"/>
          <p:cNvSpPr/>
          <p:nvPr/>
        </p:nvSpPr>
        <p:spPr>
          <a:xfrm>
            <a:off x="6812280" y="2834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platform: seekers, landlords, civil engineers and agents all in the same workflow.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83680" y="3730752"/>
            <a:ext cx="82296" cy="82296"/>
          </a:xfrm>
          <a:prstGeom prst="ellipse">
            <a:avLst/>
          </a:prstGeom>
          <a:solidFill>
            <a:srgbClr val="E3A17E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36758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passes through an agent visit and engineer inspection before publishing — verified by default.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83680" y="4572000"/>
            <a:ext cx="82296" cy="82296"/>
          </a:xfrm>
          <a:prstGeom prst="ellipse">
            <a:avLst/>
          </a:prstGeom>
          <a:solidFill>
            <a:srgbClr val="E3A17E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451713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access points (app, WhatsApp bot, website) meet people wherever their connectivity and comfort level is.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83680" y="5413248"/>
            <a:ext cx="82296" cy="82296"/>
          </a:xfrm>
          <a:prstGeom prst="ellipse">
            <a:avLst/>
          </a:prstGeom>
          <a:solidFill>
            <a:srgbClr val="E3A17E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535838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SEO-driven website turns organic search traffic into landlord and tenant sign-ups at low cost.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ON THE PLATFORM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roles, one shared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084832"/>
          </a:xfrm>
          <a:prstGeom prst="roundRect">
            <a:avLst>
              <a:gd name="adj" fmla="val 3509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658368" cy="658368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0253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Seekers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41248" y="2743200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verified listings by location, budget and type; contact agents; book viewings.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53912" y="1691640"/>
            <a:ext cx="5349240" cy="2084832"/>
          </a:xfrm>
          <a:prstGeom prst="roundRect">
            <a:avLst>
              <a:gd name="adj" fmla="val 3509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984248"/>
            <a:ext cx="658368" cy="658368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1488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00253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Landlords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446520" y="2743200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properties for listing, set price and availability, track interest and manage tenants.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32504"/>
            <a:ext cx="5349240" cy="2084832"/>
          </a:xfrm>
          <a:prstGeom prst="roundRect">
            <a:avLst>
              <a:gd name="adj" fmla="val 3509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25112"/>
            <a:ext cx="658368" cy="658368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8970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43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 Engineers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1248" y="5084064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submitted properties for structural safety and condition before a listing goes live.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53912" y="4032504"/>
            <a:ext cx="5349240" cy="2084832"/>
          </a:xfrm>
          <a:prstGeom prst="roundRect">
            <a:avLst>
              <a:gd name="adj" fmla="val 3509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325112"/>
            <a:ext cx="658368" cy="658368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48970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51192" y="4343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Finders (Agents)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446520" y="5084064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Findam's on-the-ground reps — visit properties, verify details, run viewings, close leases.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SUITE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surfaces, one backend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057400"/>
            <a:ext cx="777240" cy="77724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270" y="22517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17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experience — full search, listing management, in-app messaging, saved properties, agent scheduling. React Native for iOS + Android from one codebase.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1B3A4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79008" y="2057400"/>
            <a:ext cx="777240" cy="77724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318" y="225171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017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Bot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36008" y="35661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Low-data, low-friction entry point. Search by text, list a property, or get handed to a live agent — built for users without the app installed.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74736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92056" y="2057400"/>
            <a:ext cx="777240" cy="77724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366" y="225171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3017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(SEO)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49056" y="35661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listings indexed by Google, city/neighbourhood landing pages, and a blog — the main organic channel for new landlords and seekers.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run on one shared Django REST Framework + PostgreSQL backend, so a listing created anywhere appears everywhere.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 · 1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seeker journey,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2194560"/>
            <a:ext cx="914400" cy="91440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4414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94360" y="36576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searches by location, budget &amp; type on app, website or WhatsApp bot</a:t>
            </a:r>
            <a:endParaRPr lang="en-US" sz="108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254203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64992" y="2194560"/>
            <a:ext cx="914400" cy="91440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441448"/>
            <a:ext cx="420624" cy="4206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64992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816352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Verified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2862072" y="36576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agent-visited, engineer-inspected listings appear in results</a:t>
            </a:r>
            <a:endParaRPr lang="en-US" sz="108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542032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632704" y="2194560"/>
            <a:ext cx="914400" cy="91440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441448"/>
            <a:ext cx="420624" cy="4206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632704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084064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Agent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5129784" y="36576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messages the assigned house finder directly in-app or via bot</a:t>
            </a:r>
            <a:endParaRPr lang="en-US" sz="108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542032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900416" y="2194560"/>
            <a:ext cx="914400" cy="91440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441448"/>
            <a:ext cx="420624" cy="42062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900416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7351776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Viewing</a:t>
            </a:r>
            <a:endParaRPr lang="en-US" sz="1450" dirty="0"/>
          </a:p>
        </p:txBody>
      </p:sp>
      <p:sp>
        <p:nvSpPr>
          <p:cNvPr id="26" name="Text 17"/>
          <p:cNvSpPr/>
          <p:nvPr/>
        </p:nvSpPr>
        <p:spPr>
          <a:xfrm>
            <a:off x="7397496" y="36576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books and confirms an in-person visit with both parties</a:t>
            </a:r>
            <a:endParaRPr lang="en-US" sz="108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1744" y="2542032"/>
            <a:ext cx="219456" cy="219456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10168128" y="2194560"/>
            <a:ext cx="914400" cy="91440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441448"/>
            <a:ext cx="420624" cy="42062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0168128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0"/>
          <p:cNvSpPr/>
          <p:nvPr/>
        </p:nvSpPr>
        <p:spPr>
          <a:xfrm>
            <a:off x="9619488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In</a:t>
            </a:r>
            <a:endParaRPr lang="en-US" sz="1450" dirty="0"/>
          </a:p>
        </p:txBody>
      </p:sp>
      <p:sp>
        <p:nvSpPr>
          <p:cNvPr id="32" name="Text 21"/>
          <p:cNvSpPr/>
          <p:nvPr/>
        </p:nvSpPr>
        <p:spPr>
          <a:xfrm>
            <a:off x="9665208" y="36576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facilitates agreement &amp; handover; landlord marks unit unavailable</a:t>
            </a:r>
            <a:endParaRPr lang="en-US" sz="1080" dirty="0"/>
          </a:p>
        </p:txBody>
      </p:sp>
      <p:sp>
        <p:nvSpPr>
          <p:cNvPr id="33" name="Text 2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 · 2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Listing &amp; verification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487168"/>
            <a:ext cx="685800" cy="68580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490" y="2658618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37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Landlord Submits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details, photos &amp; price entered via app, website or an agent</a:t>
            </a:r>
            <a:endParaRPr lang="en-US" sz="108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347472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83280" y="21945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97680" y="2487168"/>
            <a:ext cx="685800" cy="68580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130" y="2658618"/>
            <a:ext cx="342900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3337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Visits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66160" y="37947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finder visits on-site, confirms details, takes final photos</a:t>
            </a:r>
            <a:endParaRPr lang="en-US" sz="108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47472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17920" y="21945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132320" y="2487168"/>
            <a:ext cx="685800" cy="68580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770" y="2658618"/>
            <a:ext cx="342900" cy="3429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55080" y="3337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Inspects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400800" y="37947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engineer checks structural safety &amp; condition, files a report</a:t>
            </a:r>
            <a:endParaRPr lang="en-US" sz="108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3474720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52560" y="21945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966960" y="2487168"/>
            <a:ext cx="685800" cy="68580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8410" y="2658618"/>
            <a:ext cx="342900" cy="3429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189720" y="3337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9235440" y="37947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goes live with a verified badge, visible across all 3 surfaces</a:t>
            </a:r>
            <a:endParaRPr lang="en-US" sz="1080" dirty="0"/>
          </a:p>
        </p:txBody>
      </p:sp>
      <p:sp>
        <p:nvSpPr>
          <p:cNvPr id="27" name="Text 18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never appears as a public listing until it has passed both agent visit and engineer sign-off.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 · 3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bot: the low-friction entry point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1B3A4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1831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bot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333756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C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seekers and landlords already live on WhatsApp and don't want to install another app or browse a website on limited data. The bot meets them there — no download, no data-heavy pages.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566928" cy="566928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572" y="19248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764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messages the bot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212080" y="20939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"Hi" or a search phrase starts the session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718304" y="2350008"/>
            <a:ext cx="0" cy="384048"/>
          </a:xfrm>
          <a:prstGeom prst="line">
            <a:avLst/>
          </a:prstGeom>
          <a:noFill/>
          <a:ln w="19050">
            <a:solidFill>
              <a:srgbClr val="C9C2B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4434840" y="2770632"/>
            <a:ext cx="566928" cy="566928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572" y="2912364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0" y="275234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Menu: Search / List / Talk to Agent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212080" y="30815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presents quick-reply options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718304" y="3337560"/>
            <a:ext cx="0" cy="384048"/>
          </a:xfrm>
          <a:prstGeom prst="line">
            <a:avLst/>
          </a:prstGeom>
          <a:noFill/>
          <a:ln w="19050">
            <a:solidFill>
              <a:srgbClr val="C9C2B8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4434840" y="3758184"/>
            <a:ext cx="566928" cy="566928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6572" y="3899916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12080" y="37398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returns matches or opens a listing form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212080" y="4069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live results from the shared backend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718304" y="4325112"/>
            <a:ext cx="0" cy="384048"/>
          </a:xfrm>
          <a:prstGeom prst="line">
            <a:avLst/>
          </a:prstGeom>
          <a:noFill/>
          <a:ln w="19050">
            <a:solidFill>
              <a:srgbClr val="C9C2B8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4434840" y="4745736"/>
            <a:ext cx="566928" cy="566928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572" y="4887468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12080" y="47274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 to a human agent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212080" y="50566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is logged and routed to the right house finder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CHANNEL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&amp; SEO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66928" y="2304288"/>
            <a:ext cx="82296" cy="82296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40280"/>
            <a:ext cx="5093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on Google for local searches like "apartments for rent in [city]" and neighbourhood-level terms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172968"/>
            <a:ext cx="82296" cy="82296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108960"/>
            <a:ext cx="5093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ongoing acquisition channel for both new landlords and seekers — lowers cost per lead over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4041648"/>
            <a:ext cx="82296" cy="82296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977640"/>
            <a:ext cx="5093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gets its own indexable page, so the catalog itself becomes the SEO engine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63640" y="17373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tactics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281928" y="2304288"/>
            <a:ext cx="82296" cy="82296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2240280"/>
            <a:ext cx="5093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pages (fast, crawlable) with schema.org structured data on every listing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81928" y="3172968"/>
            <a:ext cx="82296" cy="82296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3108960"/>
            <a:ext cx="5093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&amp; neighbourhood landing pages, refreshed as inventory changes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81928" y="4041648"/>
            <a:ext cx="82296" cy="82296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3977640"/>
            <a:ext cx="5093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calendar: renting guides, inspection checklists, landlord how-tos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81928" y="4910328"/>
            <a:ext cx="82296" cy="82296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4846320"/>
            <a:ext cx="5093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Vitals: fast load on low-end phones and weaker connections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64240" cy="18288"/>
          </a:xfrm>
          <a:prstGeom prst="rect">
            <a:avLst/>
          </a:prstGeom>
          <a:solidFill>
            <a:srgbClr val="E4DED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compounds slowly — start indexing listings and publishing content from week one of the MVP, not after launch.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TECH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backend, four connected surfaces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14303D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011680"/>
            <a:ext cx="640080" cy="64008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1717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3291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3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(iOS + Android)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749808" y="406908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3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leads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49808" y="484632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3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Offline-friendly caching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3355848" y="173736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14303D"/>
          </a:solidFill>
          <a:ln/>
        </p:spPr>
      </p:sp>
      <p:sp>
        <p:nvSpPr>
          <p:cNvPr id="12" name="Shape 9"/>
          <p:cNvSpPr/>
          <p:nvPr/>
        </p:nvSpPr>
        <p:spPr>
          <a:xfrm>
            <a:off x="4338828" y="2011680"/>
            <a:ext cx="640080" cy="64008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1717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93008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Data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57016" y="3291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3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030" dirty="0"/>
          </a:p>
        </p:txBody>
      </p:sp>
      <p:sp>
        <p:nvSpPr>
          <p:cNvPr id="16" name="Text 12"/>
          <p:cNvSpPr/>
          <p:nvPr/>
        </p:nvSpPr>
        <p:spPr>
          <a:xfrm>
            <a:off x="3557016" y="406908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3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30" dirty="0"/>
          </a:p>
        </p:txBody>
      </p:sp>
      <p:sp>
        <p:nvSpPr>
          <p:cNvPr id="17" name="Text 13"/>
          <p:cNvSpPr/>
          <p:nvPr/>
        </p:nvSpPr>
        <p:spPr>
          <a:xfrm>
            <a:off x="3557016" y="484632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3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API for app, bot &amp; site</a:t>
            </a:r>
            <a:endParaRPr lang="en-US" sz="1030" dirty="0"/>
          </a:p>
        </p:txBody>
      </p:sp>
      <p:sp>
        <p:nvSpPr>
          <p:cNvPr id="18" name="Shape 14"/>
          <p:cNvSpPr/>
          <p:nvPr/>
        </p:nvSpPr>
        <p:spPr>
          <a:xfrm>
            <a:off x="6163056" y="173736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14303D"/>
          </a:solidFill>
          <a:ln/>
        </p:spPr>
      </p:sp>
      <p:sp>
        <p:nvSpPr>
          <p:cNvPr id="19" name="Shape 15"/>
          <p:cNvSpPr/>
          <p:nvPr/>
        </p:nvSpPr>
        <p:spPr>
          <a:xfrm>
            <a:off x="7146036" y="2011680"/>
            <a:ext cx="640080" cy="64008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17170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0216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Bot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364224" y="3291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3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WhatsApp Cloud API</a:t>
            </a:r>
            <a:endParaRPr lang="en-US" sz="1030" dirty="0"/>
          </a:p>
        </p:txBody>
      </p:sp>
      <p:sp>
        <p:nvSpPr>
          <p:cNvPr id="23" name="Text 18"/>
          <p:cNvSpPr/>
          <p:nvPr/>
        </p:nvSpPr>
        <p:spPr>
          <a:xfrm>
            <a:off x="6364224" y="406908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3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Python webhook service</a:t>
            </a:r>
            <a:endParaRPr lang="en-US" sz="1030" dirty="0"/>
          </a:p>
        </p:txBody>
      </p:sp>
      <p:sp>
        <p:nvSpPr>
          <p:cNvPr id="24" name="Text 19"/>
          <p:cNvSpPr/>
          <p:nvPr/>
        </p:nvSpPr>
        <p:spPr>
          <a:xfrm>
            <a:off x="6364224" y="484632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3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leads into the backend</a:t>
            </a:r>
            <a:endParaRPr lang="en-US" sz="1030" dirty="0"/>
          </a:p>
        </p:txBody>
      </p:sp>
      <p:sp>
        <p:nvSpPr>
          <p:cNvPr id="25" name="Shape 20"/>
          <p:cNvSpPr/>
          <p:nvPr/>
        </p:nvSpPr>
        <p:spPr>
          <a:xfrm>
            <a:off x="8970264" y="173736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14303D"/>
          </a:solidFill>
          <a:ln/>
        </p:spPr>
      </p:sp>
      <p:sp>
        <p:nvSpPr>
          <p:cNvPr id="26" name="Shape 21"/>
          <p:cNvSpPr/>
          <p:nvPr/>
        </p:nvSpPr>
        <p:spPr>
          <a:xfrm>
            <a:off x="9953244" y="2011680"/>
            <a:ext cx="640080" cy="64008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4" y="217170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07424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&amp; Infra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9171432" y="3291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3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(server-rendered, SEO-ready)</a:t>
            </a:r>
            <a:endParaRPr lang="en-US" sz="1030" dirty="0"/>
          </a:p>
        </p:txBody>
      </p:sp>
      <p:sp>
        <p:nvSpPr>
          <p:cNvPr id="30" name="Text 24"/>
          <p:cNvSpPr/>
          <p:nvPr/>
        </p:nvSpPr>
        <p:spPr>
          <a:xfrm>
            <a:off x="9171432" y="406908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3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+ CDN</a:t>
            </a:r>
            <a:endParaRPr lang="en-US" sz="1030" dirty="0"/>
          </a:p>
        </p:txBody>
      </p:sp>
      <p:sp>
        <p:nvSpPr>
          <p:cNvPr id="31" name="Text 25"/>
          <p:cNvSpPr/>
          <p:nvPr/>
        </p:nvSpPr>
        <p:spPr>
          <a:xfrm>
            <a:off x="9171432" y="484632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3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mobile-money integration</a:t>
            </a:r>
            <a:endParaRPr lang="en-US" sz="1030" dirty="0"/>
          </a:p>
        </p:txBody>
      </p:sp>
      <p:sp>
        <p:nvSpPr>
          <p:cNvPr id="32" name="Text 26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roles you'll need to coordinate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969264"/>
          </a:xfrm>
          <a:prstGeom prst="roundRect">
            <a:avLst>
              <a:gd name="adj" fmla="val 5660"/>
            </a:avLst>
          </a:prstGeom>
          <a:solidFill>
            <a:srgbClr val="F7F3EE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74520"/>
            <a:ext cx="594360" cy="59436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22" y="20231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013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63040" y="21122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API, DB schema, auth, listing/verification logic — the shared core all 3 surfaces depend on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6245352" y="1691640"/>
            <a:ext cx="5440680" cy="969264"/>
          </a:xfrm>
          <a:prstGeom prst="roundRect">
            <a:avLst>
              <a:gd name="adj" fmla="val 5660"/>
            </a:avLst>
          </a:prstGeom>
          <a:solidFill>
            <a:srgbClr val="F7F3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09944" y="1874520"/>
            <a:ext cx="594360" cy="59436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534" y="20231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8013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Developer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159752" y="21122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for seekers &amp; landlords; consumes the shared API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48640" y="2788920"/>
            <a:ext cx="5440680" cy="969264"/>
          </a:xfrm>
          <a:prstGeom prst="roundRect">
            <a:avLst>
              <a:gd name="adj" fmla="val 5660"/>
            </a:avLst>
          </a:prstGeom>
          <a:solidFill>
            <a:srgbClr val="F7F3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2971800"/>
            <a:ext cx="594360" cy="59436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" y="312039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8986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Developer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463040" y="32095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 integration, conversation flows, handoff to agents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6245352" y="2788920"/>
            <a:ext cx="5440680" cy="969264"/>
          </a:xfrm>
          <a:prstGeom prst="roundRect">
            <a:avLst>
              <a:gd name="adj" fmla="val 5660"/>
            </a:avLst>
          </a:prstGeom>
          <a:solidFill>
            <a:srgbClr val="F7F3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9944" y="2971800"/>
            <a:ext cx="594360" cy="59436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534" y="312039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59752" y="28986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/ Web Developer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159752" y="32095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website, SEO implementation, listing pages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548640" y="3886200"/>
            <a:ext cx="5440680" cy="969264"/>
          </a:xfrm>
          <a:prstGeom prst="roundRect">
            <a:avLst>
              <a:gd name="adj" fmla="val 5660"/>
            </a:avLst>
          </a:prstGeom>
          <a:solidFill>
            <a:srgbClr val="F7F3EE"/>
          </a:solidFill>
          <a:ln/>
        </p:spPr>
      </p:sp>
      <p:sp>
        <p:nvSpPr>
          <p:cNvPr id="25" name="Shape 19"/>
          <p:cNvSpPr/>
          <p:nvPr/>
        </p:nvSpPr>
        <p:spPr>
          <a:xfrm>
            <a:off x="713232" y="4069080"/>
            <a:ext cx="594360" cy="59436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22" y="421767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39959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Designer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463040" y="43068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bot conversation design &amp; website flows — one consistent design language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6245352" y="3886200"/>
            <a:ext cx="5440680" cy="969264"/>
          </a:xfrm>
          <a:prstGeom prst="roundRect">
            <a:avLst>
              <a:gd name="adj" fmla="val 5660"/>
            </a:avLst>
          </a:prstGeom>
          <a:solidFill>
            <a:srgbClr val="F7F3EE"/>
          </a:solidFill>
          <a:ln/>
        </p:spPr>
      </p:sp>
      <p:sp>
        <p:nvSpPr>
          <p:cNvPr id="30" name="Shape 23"/>
          <p:cNvSpPr/>
          <p:nvPr/>
        </p:nvSpPr>
        <p:spPr>
          <a:xfrm>
            <a:off x="6409944" y="4069080"/>
            <a:ext cx="594360" cy="59436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534" y="421767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59752" y="39959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/ Tester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159752" y="43068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Cross-surface testing so a change in one place doesn't break another</a:t>
            </a:r>
            <a:endParaRPr lang="en-US" sz="980" dirty="0"/>
          </a:p>
        </p:txBody>
      </p:sp>
      <p:sp>
        <p:nvSpPr>
          <p:cNvPr id="34" name="Shape 26"/>
          <p:cNvSpPr/>
          <p:nvPr/>
        </p:nvSpPr>
        <p:spPr>
          <a:xfrm>
            <a:off x="548640" y="4983480"/>
            <a:ext cx="5440680" cy="969264"/>
          </a:xfrm>
          <a:prstGeom prst="roundRect">
            <a:avLst>
              <a:gd name="adj" fmla="val 5660"/>
            </a:avLst>
          </a:prstGeom>
          <a:solidFill>
            <a:srgbClr val="F7F3EE"/>
          </a:solidFill>
          <a:ln/>
        </p:spPr>
      </p:sp>
      <p:sp>
        <p:nvSpPr>
          <p:cNvPr id="35" name="Shape 27"/>
          <p:cNvSpPr/>
          <p:nvPr/>
        </p:nvSpPr>
        <p:spPr>
          <a:xfrm>
            <a:off x="713232" y="5166360"/>
            <a:ext cx="594360" cy="59436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822" y="5314950"/>
            <a:ext cx="297180" cy="2971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63040" y="50932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Finders (Agents)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1463040" y="54041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ops — property visits, viewings, tenant/landlord relationships</a:t>
            </a:r>
            <a:endParaRPr lang="en-US" sz="980" dirty="0"/>
          </a:p>
        </p:txBody>
      </p:sp>
      <p:sp>
        <p:nvSpPr>
          <p:cNvPr id="39" name="Shape 30"/>
          <p:cNvSpPr/>
          <p:nvPr/>
        </p:nvSpPr>
        <p:spPr>
          <a:xfrm>
            <a:off x="6245352" y="4983480"/>
            <a:ext cx="5440680" cy="969264"/>
          </a:xfrm>
          <a:prstGeom prst="roundRect">
            <a:avLst>
              <a:gd name="adj" fmla="val 5660"/>
            </a:avLst>
          </a:prstGeom>
          <a:solidFill>
            <a:srgbClr val="F7F3EE"/>
          </a:solidFill>
          <a:ln/>
        </p:spPr>
      </p:sp>
      <p:sp>
        <p:nvSpPr>
          <p:cNvPr id="40" name="Shape 31"/>
          <p:cNvSpPr/>
          <p:nvPr/>
        </p:nvSpPr>
        <p:spPr>
          <a:xfrm>
            <a:off x="6409944" y="5166360"/>
            <a:ext cx="594360" cy="594360"/>
          </a:xfrm>
          <a:prstGeom prst="ellipse">
            <a:avLst/>
          </a:prstGeom>
          <a:solidFill>
            <a:srgbClr val="C9704F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8534" y="5314950"/>
            <a:ext cx="297180" cy="2971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59752" y="50932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 Engineer (consultant)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7159752" y="54041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inspection sign-off on each new listing</a:t>
            </a:r>
            <a:endParaRPr lang="en-US" sz="980" dirty="0"/>
          </a:p>
        </p:txBody>
      </p:sp>
      <p:sp>
        <p:nvSpPr>
          <p:cNvPr id="44" name="Text 3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 to full launch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933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MVP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4672" y="22860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workflow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4672" y="2953512"/>
            <a:ext cx="73152" cy="73152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8036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listings, users, auth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" y="3666744"/>
            <a:ext cx="73152" cy="73152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593592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bot: search + list-property + agent handoff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" y="4379976"/>
            <a:ext cx="73152" cy="73152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306824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basic listing pages, no SEO polish yet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" y="5093208"/>
            <a:ext cx="73152" cy="73152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020056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agent + engineer verification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1688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1B3A4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9933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CORE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17720" y="22860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the app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17720" y="2953512"/>
            <a:ext cx="73152" cy="73152"/>
          </a:xfrm>
          <a:prstGeom prst="ellipse">
            <a:avLst/>
          </a:prstGeom>
          <a:solidFill>
            <a:srgbClr val="E3A17E"/>
          </a:solidFill>
          <a:ln/>
        </p:spPr>
      </p:sp>
      <p:sp>
        <p:nvSpPr>
          <p:cNvPr id="19" name="Text 17"/>
          <p:cNvSpPr/>
          <p:nvPr/>
        </p:nvSpPr>
        <p:spPr>
          <a:xfrm>
            <a:off x="4818888" y="288036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seekers &amp; landlords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666744"/>
            <a:ext cx="73152" cy="73152"/>
          </a:xfrm>
          <a:prstGeom prst="ellipse">
            <a:avLst/>
          </a:prstGeom>
          <a:solidFill>
            <a:srgbClr val="E3A17E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3593592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 &amp; viewing scheduler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4379976"/>
            <a:ext cx="73152" cy="73152"/>
          </a:xfrm>
          <a:prstGeom prst="ellipse">
            <a:avLst/>
          </a:prstGeom>
          <a:solidFill>
            <a:srgbClr val="E3A17E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4306824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workflow built into the product (not manual)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5093208"/>
            <a:ext cx="73152" cy="73152"/>
          </a:xfrm>
          <a:prstGeom prst="ellipse">
            <a:avLst/>
          </a:prstGeom>
          <a:solidFill>
            <a:srgbClr val="E3A17E"/>
          </a:solidFill>
          <a:ln/>
        </p:spPr>
      </p:sp>
      <p:sp>
        <p:nvSpPr>
          <p:cNvPr id="25" name="Text 23"/>
          <p:cNvSpPr/>
          <p:nvPr/>
        </p:nvSpPr>
        <p:spPr>
          <a:xfrm>
            <a:off x="4818888" y="5020056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dashboard for lead management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74736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430768" y="19933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SCALE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30768" y="22860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channels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430768" y="2953512"/>
            <a:ext cx="73152" cy="73152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30" name="Text 28"/>
          <p:cNvSpPr/>
          <p:nvPr/>
        </p:nvSpPr>
        <p:spPr>
          <a:xfrm>
            <a:off x="8631936" y="288036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push: city pages, blog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30768" y="3666744"/>
            <a:ext cx="73152" cy="73152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32" name="Text 30"/>
          <p:cNvSpPr/>
          <p:nvPr/>
        </p:nvSpPr>
        <p:spPr>
          <a:xfrm>
            <a:off x="8631936" y="3593592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/ mobile money integration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30768" y="4379976"/>
            <a:ext cx="73152" cy="73152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34" name="Text 32"/>
          <p:cNvSpPr/>
          <p:nvPr/>
        </p:nvSpPr>
        <p:spPr>
          <a:xfrm>
            <a:off x="8631936" y="4306824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for landlords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30768" y="5093208"/>
            <a:ext cx="73152" cy="73152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36" name="Text 34"/>
          <p:cNvSpPr/>
          <p:nvPr/>
        </p:nvSpPr>
        <p:spPr>
          <a:xfrm>
            <a:off x="8631936" y="5020056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agent network expansion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TIMELINE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 sequence, not a race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0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383280" y="1828800"/>
            <a:ext cx="0" cy="3383280"/>
          </a:xfrm>
          <a:prstGeom prst="line">
            <a:avLst/>
          </a:prstGeom>
          <a:noFill/>
          <a:ln w="12700">
            <a:solidFill>
              <a:srgbClr val="EDE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80065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62945" y="1828800"/>
            <a:ext cx="0" cy="3383280"/>
          </a:xfrm>
          <a:prstGeom prst="line">
            <a:avLst/>
          </a:prstGeom>
          <a:noFill/>
          <a:ln w="12700">
            <a:solidFill>
              <a:srgbClr val="ED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59731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42611" y="1828800"/>
            <a:ext cx="0" cy="3383280"/>
          </a:xfrm>
          <a:prstGeom prst="line">
            <a:avLst/>
          </a:prstGeom>
          <a:noFill/>
          <a:ln w="12700">
            <a:solidFill>
              <a:srgbClr val="EDE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9396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22276" y="1828800"/>
            <a:ext cx="0" cy="3383280"/>
          </a:xfrm>
          <a:prstGeom prst="line">
            <a:avLst/>
          </a:prstGeom>
          <a:noFill/>
          <a:ln w="12700">
            <a:solidFill>
              <a:srgbClr val="EDE7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19062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301942" y="1828800"/>
            <a:ext cx="0" cy="3383280"/>
          </a:xfrm>
          <a:prstGeom prst="line">
            <a:avLst/>
          </a:prstGeom>
          <a:noFill/>
          <a:ln w="12700">
            <a:solidFill>
              <a:srgbClr val="EDE7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98727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781607" y="1828800"/>
            <a:ext cx="0" cy="3383280"/>
          </a:xfrm>
          <a:prstGeom prst="line">
            <a:avLst/>
          </a:prstGeom>
          <a:noFill/>
          <a:ln w="12700">
            <a:solidFill>
              <a:srgbClr val="EDE7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847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&amp; Design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DB schema, API contracts, UI/UX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1929384"/>
            <a:ext cx="1479665" cy="365760"/>
          </a:xfrm>
          <a:prstGeom prst="roundRect">
            <a:avLst>
              <a:gd name="adj" fmla="val 12500"/>
            </a:avLst>
          </a:prstGeom>
          <a:solidFill>
            <a:srgbClr val="64707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054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+ WhatsApp Bot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2779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API, bot MVP, manual verification flow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93029" y="2587752"/>
            <a:ext cx="2219498" cy="365760"/>
          </a:xfrm>
          <a:prstGeom prst="roundRect">
            <a:avLst>
              <a:gd name="adj" fmla="val 12500"/>
            </a:avLst>
          </a:prstGeom>
          <a:solidFill>
            <a:srgbClr val="1B3A4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63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 + Website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3438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build, listing pages, in-app messaging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42611" y="3246120"/>
            <a:ext cx="2959331" cy="365760"/>
          </a:xfrm>
          <a:prstGeom prst="roundRect">
            <a:avLst>
              <a:gd name="adj" fmla="val 12500"/>
            </a:avLst>
          </a:prstGeom>
          <a:solidFill>
            <a:srgbClr val="C9704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Pilot Launch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across all 3 surfaces, pilot with real agents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932025" y="3904488"/>
            <a:ext cx="1479665" cy="365760"/>
          </a:xfrm>
          <a:prstGeom prst="roundRect">
            <a:avLst>
              <a:gd name="adj" fmla="val 12500"/>
            </a:avLst>
          </a:prstGeom>
          <a:solidFill>
            <a:srgbClr val="8A9AA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&amp; Content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from week 1, ramps up post-launch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23113" y="4562856"/>
            <a:ext cx="7028411" cy="365760"/>
          </a:xfrm>
          <a:prstGeom prst="roundRect">
            <a:avLst>
              <a:gd name="adj" fmla="val 12500"/>
            </a:avLst>
          </a:prstGeom>
          <a:solidFill>
            <a:srgbClr val="E3A17E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assumes a small dedicated team (3-4 developers). Adjust pace to your team's actual capacity.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8961120" y="128016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next steps for the team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8720" y="19019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 requirements &amp; user stories for each of the 4 roles (seeker, landlord, engineer, agent)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88720" y="25877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shared database schema &amp; API contracts before any surface-specific code starts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88720" y="32735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repos, project board and environments — assign backend, mobile, bot and web owners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39593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WhatsApp bot MVP first — fastest path to real leads and workflow validation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88720" y="46451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or confirm pilot house finders and a civil engineer partner for verification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C9704F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88720" y="53309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SEO groundwork (site structure, listing schema) alongside backend work, not after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